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94694"/>
  </p:normalViewPr>
  <p:slideViewPr>
    <p:cSldViewPr snapToGrid="0">
      <p:cViewPr>
        <p:scale>
          <a:sx n="123" d="100"/>
          <a:sy n="123" d="100"/>
        </p:scale>
        <p:origin x="32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B4076-ADC4-F541-AC76-611EF9C4BEA6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19B45-71E2-6143-9486-354B8DA99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19B45-71E2-6143-9486-354B8DA99F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57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19B45-71E2-6143-9486-354B8DA99F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5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9403-DBBB-2BCE-FE24-EAC9A1DAD0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Transient Sprinkler Dynamics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CA5D8-7FA3-9748-B2BE-3597D4FEF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1228314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D7CB1-AAEE-AF4D-8737-58D00A59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859" y="898594"/>
            <a:ext cx="4023073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0" i="0" kern="1200" dirty="0">
                <a:solidFill>
                  <a:srgbClr val="EBEBE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Necessary Equations</a:t>
            </a:r>
            <a:br>
              <a:rPr lang="en-US" sz="3300" b="0" i="0" kern="1200" dirty="0">
                <a:solidFill>
                  <a:srgbClr val="EBEBE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US" sz="3300" b="0" i="0" kern="1200" dirty="0">
              <a:solidFill>
                <a:srgbClr val="EBEBEB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Picture 7" descr="A graph of a graph showing a number of points&#10;&#10;AI-generated content may be incorrect.">
            <a:extLst>
              <a:ext uri="{FF2B5EF4-FFF2-40B4-BE49-F238E27FC236}">
                <a16:creationId xmlns:a16="http://schemas.microsoft.com/office/drawing/2014/main" id="{44815E4F-0A4E-DF68-11A1-E3AF6EF0F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607" y="1503550"/>
            <a:ext cx="6391533" cy="38509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338580-5622-5754-C16D-AB1AE53E31B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5860" y="1408711"/>
                <a:ext cx="4280176" cy="4965352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Want to fit tail to the ODE: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ϕ</m:t>
                        </m:r>
                      </m:e>
                    </m:acc>
                    <m: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+ 2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acc>
                      <m:accPr>
                        <m:chr m:val="̇"/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ϕ</m:t>
                        </m:r>
                      </m:e>
                    </m:acc>
                    <m: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	(1)</a:t>
                </a:r>
              </a:p>
              <a:p>
                <a:pPr lvl="1"/>
                <a:r>
                  <a:rPr lang="en-US" i="1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Overall goal is to solve for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i="1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i="1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General Solution to ODE: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(2)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b="0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constants.</a:t>
                </a:r>
              </a:p>
              <a:p>
                <a:pPr marL="0" indent="0">
                  <a:buNone/>
                </a:pPr>
                <a:endParaRPr lang="en-US" b="0" dirty="0">
                  <a:solidFill>
                    <a:srgbClr val="FFFF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By picking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b="0" dirty="0" err="1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b="0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uch that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ϕ</m:t>
                        </m:r>
                      </m:e>
                    </m:acc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=0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(at a peak/orange point) and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b="0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we can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FF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b="0" dirty="0">
                  <a:solidFill>
                    <a:srgbClr val="FFFF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FFFF"/>
                  </a:solidFill>
                </a:endParaRPr>
              </a:p>
              <a:p>
                <a:endParaRPr lang="en-US" dirty="0">
                  <a:solidFill>
                    <a:srgbClr val="FFFFFF"/>
                  </a:solidFill>
                </a:endParaRPr>
              </a:p>
              <a:p>
                <a:endParaRPr lang="en-US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338580-5622-5754-C16D-AB1AE53E31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5860" y="1408711"/>
                <a:ext cx="4280176" cy="4965352"/>
              </a:xfrm>
              <a:blipFill>
                <a:blip r:embed="rId5"/>
                <a:stretch>
                  <a:fillRect l="-1183" t="-509" r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8D29E-C4BD-1DB4-B890-A507575F3C55}"/>
              </a:ext>
            </a:extLst>
          </p:cNvPr>
          <p:cNvSpPr/>
          <p:nvPr/>
        </p:nvSpPr>
        <p:spPr>
          <a:xfrm>
            <a:off x="8609012" y="1993900"/>
            <a:ext cx="2428033" cy="2833868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0B6A6-6DBB-A3A2-484C-B0DAEA84659A}"/>
              </a:ext>
            </a:extLst>
          </p:cNvPr>
          <p:cNvSpPr txBox="1"/>
          <p:nvPr/>
        </p:nvSpPr>
        <p:spPr>
          <a:xfrm>
            <a:off x="9156278" y="2237909"/>
            <a:ext cx="13335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 region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BEE82-7E25-0B81-BB0F-ED348FDDB71B}"/>
              </a:ext>
            </a:extLst>
          </p:cNvPr>
          <p:cNvSpPr txBox="1"/>
          <p:nvPr/>
        </p:nvSpPr>
        <p:spPr>
          <a:xfrm>
            <a:off x="5194607" y="5444798"/>
            <a:ext cx="68957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Blue, solid curve is spring response of sprinkler. Orange, circular data points are where peaks occur (change in direction of curve).</a:t>
            </a:r>
          </a:p>
          <a:p>
            <a:endParaRPr lang="en-US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Excellent data shown was provided by Kelly and Jesse, Dec. 2025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298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797BC0-001F-5944-2CAB-7CEBEE6ABFB4}"/>
              </a:ext>
            </a:extLst>
          </p:cNvPr>
          <p:cNvGrpSpPr/>
          <p:nvPr/>
        </p:nvGrpSpPr>
        <p:grpSpPr>
          <a:xfrm>
            <a:off x="304800" y="202901"/>
            <a:ext cx="5689600" cy="6235765"/>
            <a:chOff x="4291109" y="2992582"/>
            <a:chExt cx="2507721" cy="2748446"/>
          </a:xfrm>
        </p:grpSpPr>
        <p:pic>
          <p:nvPicPr>
            <p:cNvPr id="3" name="Picture 2" descr="A graph of a graph showing a number of points&#10;&#10;AI-generated content may be incorrect.">
              <a:extLst>
                <a:ext uri="{FF2B5EF4-FFF2-40B4-BE49-F238E27FC236}">
                  <a16:creationId xmlns:a16="http://schemas.microsoft.com/office/drawing/2014/main" id="{397BE4EF-CD12-F37D-D98A-C7772017E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3422" t="11604" r="7343" b="18527"/>
            <a:stretch>
              <a:fillRect/>
            </a:stretch>
          </p:blipFill>
          <p:spPr>
            <a:xfrm>
              <a:off x="4291109" y="2992582"/>
              <a:ext cx="2507721" cy="269056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C25A3E-10EB-978D-12D1-8487B214D731}"/>
                </a:ext>
              </a:extLst>
            </p:cNvPr>
            <p:cNvSpPr/>
            <p:nvPr/>
          </p:nvSpPr>
          <p:spPr>
            <a:xfrm>
              <a:off x="4291109" y="3050464"/>
              <a:ext cx="2428033" cy="2690564"/>
            </a:xfrm>
            <a:prstGeom prst="rect">
              <a:avLst/>
            </a:prstGeom>
            <a:noFill/>
            <a:ln w="762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3ECEBD-D522-62C3-31CE-662FBBCFE0B7}"/>
                </a:ext>
              </a:extLst>
            </p:cNvPr>
            <p:cNvSpPr txBox="1"/>
            <p:nvPr/>
          </p:nvSpPr>
          <p:spPr>
            <a:xfrm>
              <a:off x="4652012" y="3270842"/>
              <a:ext cx="1333500" cy="2306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n w="0"/>
                  <a:solidFill>
                    <a:schemeClr val="accent6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Tail region</a:t>
              </a:r>
            </a:p>
          </p:txBody>
        </p:sp>
      </p:grpSp>
      <p:sp>
        <p:nvSpPr>
          <p:cNvPr id="6" name="Freeform 5">
            <a:extLst>
              <a:ext uri="{FF2B5EF4-FFF2-40B4-BE49-F238E27FC236}">
                <a16:creationId xmlns:a16="http://schemas.microsoft.com/office/drawing/2014/main" id="{AD343A6A-272A-DE8A-8C18-27AAF7535D4C}"/>
              </a:ext>
            </a:extLst>
          </p:cNvPr>
          <p:cNvSpPr/>
          <p:nvPr/>
        </p:nvSpPr>
        <p:spPr>
          <a:xfrm>
            <a:off x="321469" y="778669"/>
            <a:ext cx="5107781" cy="2578894"/>
          </a:xfrm>
          <a:custGeom>
            <a:avLst/>
            <a:gdLst>
              <a:gd name="csX0" fmla="*/ 0 w 5107781"/>
              <a:gd name="csY0" fmla="*/ 0 h 2578894"/>
              <a:gd name="csX1" fmla="*/ 21431 w 5107781"/>
              <a:gd name="csY1" fmla="*/ 78581 h 2578894"/>
              <a:gd name="csX2" fmla="*/ 28575 w 5107781"/>
              <a:gd name="csY2" fmla="*/ 100012 h 2578894"/>
              <a:gd name="csX3" fmla="*/ 35719 w 5107781"/>
              <a:gd name="csY3" fmla="*/ 171450 h 2578894"/>
              <a:gd name="csX4" fmla="*/ 50006 w 5107781"/>
              <a:gd name="csY4" fmla="*/ 214312 h 2578894"/>
              <a:gd name="csX5" fmla="*/ 57150 w 5107781"/>
              <a:gd name="csY5" fmla="*/ 235744 h 2578894"/>
              <a:gd name="csX6" fmla="*/ 71437 w 5107781"/>
              <a:gd name="csY6" fmla="*/ 292894 h 2578894"/>
              <a:gd name="csX7" fmla="*/ 92869 w 5107781"/>
              <a:gd name="csY7" fmla="*/ 364331 h 2578894"/>
              <a:gd name="csX8" fmla="*/ 107156 w 5107781"/>
              <a:gd name="csY8" fmla="*/ 407194 h 2578894"/>
              <a:gd name="csX9" fmla="*/ 121444 w 5107781"/>
              <a:gd name="csY9" fmla="*/ 428625 h 2578894"/>
              <a:gd name="csX10" fmla="*/ 128587 w 5107781"/>
              <a:gd name="csY10" fmla="*/ 457200 h 2578894"/>
              <a:gd name="csX11" fmla="*/ 142875 w 5107781"/>
              <a:gd name="csY11" fmla="*/ 500062 h 2578894"/>
              <a:gd name="csX12" fmla="*/ 171450 w 5107781"/>
              <a:gd name="csY12" fmla="*/ 600075 h 2578894"/>
              <a:gd name="csX13" fmla="*/ 178594 w 5107781"/>
              <a:gd name="csY13" fmla="*/ 621506 h 2578894"/>
              <a:gd name="csX14" fmla="*/ 185737 w 5107781"/>
              <a:gd name="csY14" fmla="*/ 642937 h 2578894"/>
              <a:gd name="csX15" fmla="*/ 214312 w 5107781"/>
              <a:gd name="csY15" fmla="*/ 685800 h 2578894"/>
              <a:gd name="csX16" fmla="*/ 235744 w 5107781"/>
              <a:gd name="csY16" fmla="*/ 728662 h 2578894"/>
              <a:gd name="csX17" fmla="*/ 271462 w 5107781"/>
              <a:gd name="csY17" fmla="*/ 771525 h 2578894"/>
              <a:gd name="csX18" fmla="*/ 278606 w 5107781"/>
              <a:gd name="csY18" fmla="*/ 792956 h 2578894"/>
              <a:gd name="csX19" fmla="*/ 307181 w 5107781"/>
              <a:gd name="csY19" fmla="*/ 835819 h 2578894"/>
              <a:gd name="csX20" fmla="*/ 321469 w 5107781"/>
              <a:gd name="csY20" fmla="*/ 857250 h 2578894"/>
              <a:gd name="csX21" fmla="*/ 342900 w 5107781"/>
              <a:gd name="csY21" fmla="*/ 878681 h 2578894"/>
              <a:gd name="csX22" fmla="*/ 371475 w 5107781"/>
              <a:gd name="csY22" fmla="*/ 914400 h 2578894"/>
              <a:gd name="csX23" fmla="*/ 400050 w 5107781"/>
              <a:gd name="csY23" fmla="*/ 957262 h 2578894"/>
              <a:gd name="csX24" fmla="*/ 442912 w 5107781"/>
              <a:gd name="csY24" fmla="*/ 1021556 h 2578894"/>
              <a:gd name="csX25" fmla="*/ 457200 w 5107781"/>
              <a:gd name="csY25" fmla="*/ 1042987 h 2578894"/>
              <a:gd name="csX26" fmla="*/ 478631 w 5107781"/>
              <a:gd name="csY26" fmla="*/ 1064419 h 2578894"/>
              <a:gd name="csX27" fmla="*/ 528637 w 5107781"/>
              <a:gd name="csY27" fmla="*/ 1121569 h 2578894"/>
              <a:gd name="csX28" fmla="*/ 578644 w 5107781"/>
              <a:gd name="csY28" fmla="*/ 1178719 h 2578894"/>
              <a:gd name="csX29" fmla="*/ 607219 w 5107781"/>
              <a:gd name="csY29" fmla="*/ 1221581 h 2578894"/>
              <a:gd name="csX30" fmla="*/ 650081 w 5107781"/>
              <a:gd name="csY30" fmla="*/ 1257300 h 2578894"/>
              <a:gd name="csX31" fmla="*/ 664369 w 5107781"/>
              <a:gd name="csY31" fmla="*/ 1278731 h 2578894"/>
              <a:gd name="csX32" fmla="*/ 685800 w 5107781"/>
              <a:gd name="csY32" fmla="*/ 1300162 h 2578894"/>
              <a:gd name="csX33" fmla="*/ 735806 w 5107781"/>
              <a:gd name="csY33" fmla="*/ 1357312 h 2578894"/>
              <a:gd name="csX34" fmla="*/ 785812 w 5107781"/>
              <a:gd name="csY34" fmla="*/ 1414462 h 2578894"/>
              <a:gd name="csX35" fmla="*/ 814387 w 5107781"/>
              <a:gd name="csY35" fmla="*/ 1450181 h 2578894"/>
              <a:gd name="csX36" fmla="*/ 828675 w 5107781"/>
              <a:gd name="csY36" fmla="*/ 1471612 h 2578894"/>
              <a:gd name="csX37" fmla="*/ 850106 w 5107781"/>
              <a:gd name="csY37" fmla="*/ 1493044 h 2578894"/>
              <a:gd name="csX38" fmla="*/ 900112 w 5107781"/>
              <a:gd name="csY38" fmla="*/ 1550194 h 2578894"/>
              <a:gd name="csX39" fmla="*/ 935831 w 5107781"/>
              <a:gd name="csY39" fmla="*/ 1585912 h 2578894"/>
              <a:gd name="csX40" fmla="*/ 950119 w 5107781"/>
              <a:gd name="csY40" fmla="*/ 1607344 h 2578894"/>
              <a:gd name="csX41" fmla="*/ 992981 w 5107781"/>
              <a:gd name="csY41" fmla="*/ 1643062 h 2578894"/>
              <a:gd name="csX42" fmla="*/ 1050131 w 5107781"/>
              <a:gd name="csY42" fmla="*/ 1707356 h 2578894"/>
              <a:gd name="csX43" fmla="*/ 1071562 w 5107781"/>
              <a:gd name="csY43" fmla="*/ 1728787 h 2578894"/>
              <a:gd name="csX44" fmla="*/ 1114425 w 5107781"/>
              <a:gd name="csY44" fmla="*/ 1757362 h 2578894"/>
              <a:gd name="csX45" fmla="*/ 1135856 w 5107781"/>
              <a:gd name="csY45" fmla="*/ 1771650 h 2578894"/>
              <a:gd name="csX46" fmla="*/ 1157287 w 5107781"/>
              <a:gd name="csY46" fmla="*/ 1793081 h 2578894"/>
              <a:gd name="csX47" fmla="*/ 1200150 w 5107781"/>
              <a:gd name="csY47" fmla="*/ 1821656 h 2578894"/>
              <a:gd name="csX48" fmla="*/ 1221581 w 5107781"/>
              <a:gd name="csY48" fmla="*/ 1835944 h 2578894"/>
              <a:gd name="csX49" fmla="*/ 1264444 w 5107781"/>
              <a:gd name="csY49" fmla="*/ 1871662 h 2578894"/>
              <a:gd name="csX50" fmla="*/ 1285875 w 5107781"/>
              <a:gd name="csY50" fmla="*/ 1878806 h 2578894"/>
              <a:gd name="csX51" fmla="*/ 1328737 w 5107781"/>
              <a:gd name="csY51" fmla="*/ 1900237 h 2578894"/>
              <a:gd name="csX52" fmla="*/ 1371600 w 5107781"/>
              <a:gd name="csY52" fmla="*/ 1928812 h 2578894"/>
              <a:gd name="csX53" fmla="*/ 1400175 w 5107781"/>
              <a:gd name="csY53" fmla="*/ 1950244 h 2578894"/>
              <a:gd name="csX54" fmla="*/ 1471612 w 5107781"/>
              <a:gd name="csY54" fmla="*/ 1978819 h 2578894"/>
              <a:gd name="csX55" fmla="*/ 1500187 w 5107781"/>
              <a:gd name="csY55" fmla="*/ 2000250 h 2578894"/>
              <a:gd name="csX56" fmla="*/ 1543050 w 5107781"/>
              <a:gd name="csY56" fmla="*/ 2014537 h 2578894"/>
              <a:gd name="csX57" fmla="*/ 1607344 w 5107781"/>
              <a:gd name="csY57" fmla="*/ 2043112 h 2578894"/>
              <a:gd name="csX58" fmla="*/ 1628775 w 5107781"/>
              <a:gd name="csY58" fmla="*/ 2050256 h 2578894"/>
              <a:gd name="csX59" fmla="*/ 1650206 w 5107781"/>
              <a:gd name="csY59" fmla="*/ 2057400 h 2578894"/>
              <a:gd name="csX60" fmla="*/ 1693069 w 5107781"/>
              <a:gd name="csY60" fmla="*/ 2078831 h 2578894"/>
              <a:gd name="csX61" fmla="*/ 1714500 w 5107781"/>
              <a:gd name="csY61" fmla="*/ 2093119 h 2578894"/>
              <a:gd name="csX62" fmla="*/ 1757362 w 5107781"/>
              <a:gd name="csY62" fmla="*/ 2107406 h 2578894"/>
              <a:gd name="csX63" fmla="*/ 1814512 w 5107781"/>
              <a:gd name="csY63" fmla="*/ 2143125 h 2578894"/>
              <a:gd name="csX64" fmla="*/ 1835944 w 5107781"/>
              <a:gd name="csY64" fmla="*/ 2150269 h 2578894"/>
              <a:gd name="csX65" fmla="*/ 1857375 w 5107781"/>
              <a:gd name="csY65" fmla="*/ 2164556 h 2578894"/>
              <a:gd name="csX66" fmla="*/ 1900237 w 5107781"/>
              <a:gd name="csY66" fmla="*/ 2178844 h 2578894"/>
              <a:gd name="csX67" fmla="*/ 1921669 w 5107781"/>
              <a:gd name="csY67" fmla="*/ 2185987 h 2578894"/>
              <a:gd name="csX68" fmla="*/ 1943100 w 5107781"/>
              <a:gd name="csY68" fmla="*/ 2200275 h 2578894"/>
              <a:gd name="csX69" fmla="*/ 1985962 w 5107781"/>
              <a:gd name="csY69" fmla="*/ 2214562 h 2578894"/>
              <a:gd name="csX70" fmla="*/ 2035969 w 5107781"/>
              <a:gd name="csY70" fmla="*/ 2235994 h 2578894"/>
              <a:gd name="csX71" fmla="*/ 2057400 w 5107781"/>
              <a:gd name="csY71" fmla="*/ 2250281 h 2578894"/>
              <a:gd name="csX72" fmla="*/ 2100262 w 5107781"/>
              <a:gd name="csY72" fmla="*/ 2264569 h 2578894"/>
              <a:gd name="csX73" fmla="*/ 2121694 w 5107781"/>
              <a:gd name="csY73" fmla="*/ 2271712 h 2578894"/>
              <a:gd name="csX74" fmla="*/ 2171700 w 5107781"/>
              <a:gd name="csY74" fmla="*/ 2278856 h 2578894"/>
              <a:gd name="csX75" fmla="*/ 2221706 w 5107781"/>
              <a:gd name="csY75" fmla="*/ 2293144 h 2578894"/>
              <a:gd name="csX76" fmla="*/ 2264569 w 5107781"/>
              <a:gd name="csY76" fmla="*/ 2307431 h 2578894"/>
              <a:gd name="csX77" fmla="*/ 2286000 w 5107781"/>
              <a:gd name="csY77" fmla="*/ 2314575 h 2578894"/>
              <a:gd name="csX78" fmla="*/ 2350294 w 5107781"/>
              <a:gd name="csY78" fmla="*/ 2343150 h 2578894"/>
              <a:gd name="csX79" fmla="*/ 2393156 w 5107781"/>
              <a:gd name="csY79" fmla="*/ 2357437 h 2578894"/>
              <a:gd name="csX80" fmla="*/ 2450306 w 5107781"/>
              <a:gd name="csY80" fmla="*/ 2371725 h 2578894"/>
              <a:gd name="csX81" fmla="*/ 2521744 w 5107781"/>
              <a:gd name="csY81" fmla="*/ 2386012 h 2578894"/>
              <a:gd name="csX82" fmla="*/ 2593181 w 5107781"/>
              <a:gd name="csY82" fmla="*/ 2400300 h 2578894"/>
              <a:gd name="csX83" fmla="*/ 2678906 w 5107781"/>
              <a:gd name="csY83" fmla="*/ 2414587 h 2578894"/>
              <a:gd name="csX84" fmla="*/ 2828925 w 5107781"/>
              <a:gd name="csY84" fmla="*/ 2421731 h 2578894"/>
              <a:gd name="csX85" fmla="*/ 2928937 w 5107781"/>
              <a:gd name="csY85" fmla="*/ 2436019 h 2578894"/>
              <a:gd name="csX86" fmla="*/ 2964656 w 5107781"/>
              <a:gd name="csY86" fmla="*/ 2443162 h 2578894"/>
              <a:gd name="csX87" fmla="*/ 3064669 w 5107781"/>
              <a:gd name="csY87" fmla="*/ 2457450 h 2578894"/>
              <a:gd name="csX88" fmla="*/ 3171825 w 5107781"/>
              <a:gd name="csY88" fmla="*/ 2471737 h 2578894"/>
              <a:gd name="csX89" fmla="*/ 3221831 w 5107781"/>
              <a:gd name="csY89" fmla="*/ 2486025 h 2578894"/>
              <a:gd name="csX90" fmla="*/ 3457575 w 5107781"/>
              <a:gd name="csY90" fmla="*/ 2500312 h 2578894"/>
              <a:gd name="csX91" fmla="*/ 3543300 w 5107781"/>
              <a:gd name="csY91" fmla="*/ 2507456 h 2578894"/>
              <a:gd name="csX92" fmla="*/ 3643312 w 5107781"/>
              <a:gd name="csY92" fmla="*/ 2521744 h 2578894"/>
              <a:gd name="csX93" fmla="*/ 3700462 w 5107781"/>
              <a:gd name="csY93" fmla="*/ 2528887 h 2578894"/>
              <a:gd name="csX94" fmla="*/ 3814762 w 5107781"/>
              <a:gd name="csY94" fmla="*/ 2543175 h 2578894"/>
              <a:gd name="csX95" fmla="*/ 4336256 w 5107781"/>
              <a:gd name="csY95" fmla="*/ 2557462 h 2578894"/>
              <a:gd name="csX96" fmla="*/ 4400550 w 5107781"/>
              <a:gd name="csY96" fmla="*/ 2571750 h 2578894"/>
              <a:gd name="csX97" fmla="*/ 4614862 w 5107781"/>
              <a:gd name="csY97" fmla="*/ 2578894 h 2578894"/>
              <a:gd name="csX98" fmla="*/ 4807744 w 5107781"/>
              <a:gd name="csY98" fmla="*/ 2571750 h 2578894"/>
              <a:gd name="csX99" fmla="*/ 4879181 w 5107781"/>
              <a:gd name="csY99" fmla="*/ 2564606 h 2578894"/>
              <a:gd name="csX100" fmla="*/ 4993481 w 5107781"/>
              <a:gd name="csY100" fmla="*/ 2557462 h 2578894"/>
              <a:gd name="csX101" fmla="*/ 5107781 w 5107781"/>
              <a:gd name="csY101" fmla="*/ 2550319 h 2578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5107781" h="2578894">
                <a:moveTo>
                  <a:pt x="0" y="0"/>
                </a:moveTo>
                <a:cubicBezTo>
                  <a:pt x="10097" y="50484"/>
                  <a:pt x="3305" y="24203"/>
                  <a:pt x="21431" y="78581"/>
                </a:cubicBezTo>
                <a:lnTo>
                  <a:pt x="28575" y="100012"/>
                </a:lnTo>
                <a:cubicBezTo>
                  <a:pt x="30956" y="123825"/>
                  <a:pt x="31309" y="147928"/>
                  <a:pt x="35719" y="171450"/>
                </a:cubicBezTo>
                <a:cubicBezTo>
                  <a:pt x="38494" y="186252"/>
                  <a:pt x="45244" y="200025"/>
                  <a:pt x="50006" y="214312"/>
                </a:cubicBezTo>
                <a:cubicBezTo>
                  <a:pt x="52387" y="221456"/>
                  <a:pt x="55673" y="228360"/>
                  <a:pt x="57150" y="235744"/>
                </a:cubicBezTo>
                <a:cubicBezTo>
                  <a:pt x="71672" y="308351"/>
                  <a:pt x="56795" y="241644"/>
                  <a:pt x="71437" y="292894"/>
                </a:cubicBezTo>
                <a:cubicBezTo>
                  <a:pt x="93023" y="368449"/>
                  <a:pt x="58926" y="262502"/>
                  <a:pt x="92869" y="364331"/>
                </a:cubicBezTo>
                <a:cubicBezTo>
                  <a:pt x="92870" y="364335"/>
                  <a:pt x="107154" y="407191"/>
                  <a:pt x="107156" y="407194"/>
                </a:cubicBezTo>
                <a:lnTo>
                  <a:pt x="121444" y="428625"/>
                </a:lnTo>
                <a:cubicBezTo>
                  <a:pt x="123825" y="438150"/>
                  <a:pt x="125766" y="447796"/>
                  <a:pt x="128587" y="457200"/>
                </a:cubicBezTo>
                <a:cubicBezTo>
                  <a:pt x="132915" y="471625"/>
                  <a:pt x="139222" y="485451"/>
                  <a:pt x="142875" y="500062"/>
                </a:cubicBezTo>
                <a:cubicBezTo>
                  <a:pt x="160814" y="571820"/>
                  <a:pt x="150953" y="538585"/>
                  <a:pt x="171450" y="600075"/>
                </a:cubicBezTo>
                <a:lnTo>
                  <a:pt x="178594" y="621506"/>
                </a:lnTo>
                <a:cubicBezTo>
                  <a:pt x="180975" y="628650"/>
                  <a:pt x="181560" y="636672"/>
                  <a:pt x="185737" y="642937"/>
                </a:cubicBezTo>
                <a:cubicBezTo>
                  <a:pt x="195262" y="657225"/>
                  <a:pt x="208882" y="669510"/>
                  <a:pt x="214312" y="685800"/>
                </a:cubicBezTo>
                <a:cubicBezTo>
                  <a:pt x="221472" y="707280"/>
                  <a:pt x="220356" y="710196"/>
                  <a:pt x="235744" y="728662"/>
                </a:cubicBezTo>
                <a:cubicBezTo>
                  <a:pt x="255492" y="752359"/>
                  <a:pt x="258160" y="744922"/>
                  <a:pt x="271462" y="771525"/>
                </a:cubicBezTo>
                <a:cubicBezTo>
                  <a:pt x="274830" y="778260"/>
                  <a:pt x="274949" y="786373"/>
                  <a:pt x="278606" y="792956"/>
                </a:cubicBezTo>
                <a:cubicBezTo>
                  <a:pt x="286945" y="807967"/>
                  <a:pt x="297656" y="821531"/>
                  <a:pt x="307181" y="835819"/>
                </a:cubicBezTo>
                <a:cubicBezTo>
                  <a:pt x="311944" y="842963"/>
                  <a:pt x="315398" y="851179"/>
                  <a:pt x="321469" y="857250"/>
                </a:cubicBezTo>
                <a:lnTo>
                  <a:pt x="342900" y="878681"/>
                </a:lnTo>
                <a:cubicBezTo>
                  <a:pt x="358988" y="926942"/>
                  <a:pt x="336677" y="874630"/>
                  <a:pt x="371475" y="914400"/>
                </a:cubicBezTo>
                <a:cubicBezTo>
                  <a:pt x="382782" y="927323"/>
                  <a:pt x="390525" y="942975"/>
                  <a:pt x="400050" y="957262"/>
                </a:cubicBezTo>
                <a:lnTo>
                  <a:pt x="442912" y="1021556"/>
                </a:lnTo>
                <a:cubicBezTo>
                  <a:pt x="447675" y="1028700"/>
                  <a:pt x="451129" y="1036916"/>
                  <a:pt x="457200" y="1042987"/>
                </a:cubicBezTo>
                <a:cubicBezTo>
                  <a:pt x="464344" y="1050131"/>
                  <a:pt x="472428" y="1056444"/>
                  <a:pt x="478631" y="1064419"/>
                </a:cubicBezTo>
                <a:cubicBezTo>
                  <a:pt x="523507" y="1122118"/>
                  <a:pt x="487149" y="1093909"/>
                  <a:pt x="528637" y="1121569"/>
                </a:cubicBezTo>
                <a:cubicBezTo>
                  <a:pt x="561975" y="1171575"/>
                  <a:pt x="542925" y="1154906"/>
                  <a:pt x="578644" y="1178719"/>
                </a:cubicBezTo>
                <a:cubicBezTo>
                  <a:pt x="588169" y="1193006"/>
                  <a:pt x="592932" y="1212056"/>
                  <a:pt x="607219" y="1221581"/>
                </a:cubicBezTo>
                <a:cubicBezTo>
                  <a:pt x="628291" y="1235630"/>
                  <a:pt x="632892" y="1236674"/>
                  <a:pt x="650081" y="1257300"/>
                </a:cubicBezTo>
                <a:cubicBezTo>
                  <a:pt x="655578" y="1263896"/>
                  <a:pt x="658872" y="1272135"/>
                  <a:pt x="664369" y="1278731"/>
                </a:cubicBezTo>
                <a:cubicBezTo>
                  <a:pt x="670837" y="1286492"/>
                  <a:pt x="679598" y="1292187"/>
                  <a:pt x="685800" y="1300162"/>
                </a:cubicBezTo>
                <a:cubicBezTo>
                  <a:pt x="730677" y="1357862"/>
                  <a:pt x="694318" y="1329654"/>
                  <a:pt x="735806" y="1357312"/>
                </a:cubicBezTo>
                <a:cubicBezTo>
                  <a:pt x="769143" y="1407319"/>
                  <a:pt x="750093" y="1390650"/>
                  <a:pt x="785812" y="1414462"/>
                </a:cubicBezTo>
                <a:cubicBezTo>
                  <a:pt x="799720" y="1456185"/>
                  <a:pt x="782074" y="1417869"/>
                  <a:pt x="814387" y="1450181"/>
                </a:cubicBezTo>
                <a:cubicBezTo>
                  <a:pt x="820458" y="1456252"/>
                  <a:pt x="823179" y="1465016"/>
                  <a:pt x="828675" y="1471612"/>
                </a:cubicBezTo>
                <a:cubicBezTo>
                  <a:pt x="835143" y="1479373"/>
                  <a:pt x="843903" y="1485069"/>
                  <a:pt x="850106" y="1493044"/>
                </a:cubicBezTo>
                <a:cubicBezTo>
                  <a:pt x="894982" y="1550743"/>
                  <a:pt x="858624" y="1522534"/>
                  <a:pt x="900112" y="1550194"/>
                </a:cubicBezTo>
                <a:cubicBezTo>
                  <a:pt x="938216" y="1607348"/>
                  <a:pt x="888203" y="1538284"/>
                  <a:pt x="935831" y="1585912"/>
                </a:cubicBezTo>
                <a:cubicBezTo>
                  <a:pt x="941902" y="1591983"/>
                  <a:pt x="944622" y="1600748"/>
                  <a:pt x="950119" y="1607344"/>
                </a:cubicBezTo>
                <a:cubicBezTo>
                  <a:pt x="967308" y="1627971"/>
                  <a:pt x="971908" y="1629014"/>
                  <a:pt x="992981" y="1643062"/>
                </a:cubicBezTo>
                <a:cubicBezTo>
                  <a:pt x="1018477" y="1681306"/>
                  <a:pt x="1001198" y="1658423"/>
                  <a:pt x="1050131" y="1707356"/>
                </a:cubicBezTo>
                <a:cubicBezTo>
                  <a:pt x="1057275" y="1714500"/>
                  <a:pt x="1063156" y="1723183"/>
                  <a:pt x="1071562" y="1728787"/>
                </a:cubicBezTo>
                <a:lnTo>
                  <a:pt x="1114425" y="1757362"/>
                </a:lnTo>
                <a:cubicBezTo>
                  <a:pt x="1121569" y="1762125"/>
                  <a:pt x="1129785" y="1765579"/>
                  <a:pt x="1135856" y="1771650"/>
                </a:cubicBezTo>
                <a:cubicBezTo>
                  <a:pt x="1143000" y="1778794"/>
                  <a:pt x="1149312" y="1786879"/>
                  <a:pt x="1157287" y="1793081"/>
                </a:cubicBezTo>
                <a:cubicBezTo>
                  <a:pt x="1170841" y="1803623"/>
                  <a:pt x="1185862" y="1812131"/>
                  <a:pt x="1200150" y="1821656"/>
                </a:cubicBezTo>
                <a:cubicBezTo>
                  <a:pt x="1207294" y="1826419"/>
                  <a:pt x="1215510" y="1829873"/>
                  <a:pt x="1221581" y="1835944"/>
                </a:cubicBezTo>
                <a:cubicBezTo>
                  <a:pt x="1237383" y="1851746"/>
                  <a:pt x="1244550" y="1861715"/>
                  <a:pt x="1264444" y="1871662"/>
                </a:cubicBezTo>
                <a:cubicBezTo>
                  <a:pt x="1271179" y="1875030"/>
                  <a:pt x="1279140" y="1875438"/>
                  <a:pt x="1285875" y="1878806"/>
                </a:cubicBezTo>
                <a:cubicBezTo>
                  <a:pt x="1341260" y="1906500"/>
                  <a:pt x="1274877" y="1882285"/>
                  <a:pt x="1328737" y="1900237"/>
                </a:cubicBezTo>
                <a:cubicBezTo>
                  <a:pt x="1343025" y="1909762"/>
                  <a:pt x="1357863" y="1918509"/>
                  <a:pt x="1371600" y="1928812"/>
                </a:cubicBezTo>
                <a:cubicBezTo>
                  <a:pt x="1381125" y="1935956"/>
                  <a:pt x="1389526" y="1944919"/>
                  <a:pt x="1400175" y="1950244"/>
                </a:cubicBezTo>
                <a:cubicBezTo>
                  <a:pt x="1464313" y="1982313"/>
                  <a:pt x="1421666" y="1947603"/>
                  <a:pt x="1471612" y="1978819"/>
                </a:cubicBezTo>
                <a:cubicBezTo>
                  <a:pt x="1481708" y="1985129"/>
                  <a:pt x="1489538" y="1994926"/>
                  <a:pt x="1500187" y="2000250"/>
                </a:cubicBezTo>
                <a:cubicBezTo>
                  <a:pt x="1513658" y="2006985"/>
                  <a:pt x="1543050" y="2014537"/>
                  <a:pt x="1543050" y="2014537"/>
                </a:cubicBezTo>
                <a:cubicBezTo>
                  <a:pt x="1577013" y="2037180"/>
                  <a:pt x="1556334" y="2026109"/>
                  <a:pt x="1607344" y="2043112"/>
                </a:cubicBezTo>
                <a:lnTo>
                  <a:pt x="1628775" y="2050256"/>
                </a:lnTo>
                <a:cubicBezTo>
                  <a:pt x="1635919" y="2052637"/>
                  <a:pt x="1643941" y="2053223"/>
                  <a:pt x="1650206" y="2057400"/>
                </a:cubicBezTo>
                <a:cubicBezTo>
                  <a:pt x="1677903" y="2075864"/>
                  <a:pt x="1663492" y="2068972"/>
                  <a:pt x="1693069" y="2078831"/>
                </a:cubicBezTo>
                <a:cubicBezTo>
                  <a:pt x="1700213" y="2083594"/>
                  <a:pt x="1706654" y="2089632"/>
                  <a:pt x="1714500" y="2093119"/>
                </a:cubicBezTo>
                <a:cubicBezTo>
                  <a:pt x="1728262" y="2099236"/>
                  <a:pt x="1744591" y="2099424"/>
                  <a:pt x="1757362" y="2107406"/>
                </a:cubicBezTo>
                <a:cubicBezTo>
                  <a:pt x="1776412" y="2119312"/>
                  <a:pt x="1793200" y="2136021"/>
                  <a:pt x="1814512" y="2143125"/>
                </a:cubicBezTo>
                <a:cubicBezTo>
                  <a:pt x="1821656" y="2145506"/>
                  <a:pt x="1829209" y="2146901"/>
                  <a:pt x="1835944" y="2150269"/>
                </a:cubicBezTo>
                <a:cubicBezTo>
                  <a:pt x="1843623" y="2154109"/>
                  <a:pt x="1849529" y="2161069"/>
                  <a:pt x="1857375" y="2164556"/>
                </a:cubicBezTo>
                <a:cubicBezTo>
                  <a:pt x="1871137" y="2170673"/>
                  <a:pt x="1885950" y="2174082"/>
                  <a:pt x="1900237" y="2178844"/>
                </a:cubicBezTo>
                <a:lnTo>
                  <a:pt x="1921669" y="2185987"/>
                </a:lnTo>
                <a:cubicBezTo>
                  <a:pt x="1928813" y="2190750"/>
                  <a:pt x="1935254" y="2196788"/>
                  <a:pt x="1943100" y="2200275"/>
                </a:cubicBezTo>
                <a:cubicBezTo>
                  <a:pt x="1956862" y="2206392"/>
                  <a:pt x="1985962" y="2214562"/>
                  <a:pt x="1985962" y="2214562"/>
                </a:cubicBezTo>
                <a:cubicBezTo>
                  <a:pt x="2039766" y="2250432"/>
                  <a:pt x="1971388" y="2208317"/>
                  <a:pt x="2035969" y="2235994"/>
                </a:cubicBezTo>
                <a:cubicBezTo>
                  <a:pt x="2043860" y="2239376"/>
                  <a:pt x="2049554" y="2246794"/>
                  <a:pt x="2057400" y="2250281"/>
                </a:cubicBezTo>
                <a:cubicBezTo>
                  <a:pt x="2071162" y="2256398"/>
                  <a:pt x="2085975" y="2259807"/>
                  <a:pt x="2100262" y="2264569"/>
                </a:cubicBezTo>
                <a:cubicBezTo>
                  <a:pt x="2107406" y="2266950"/>
                  <a:pt x="2114239" y="2270647"/>
                  <a:pt x="2121694" y="2271712"/>
                </a:cubicBezTo>
                <a:lnTo>
                  <a:pt x="2171700" y="2278856"/>
                </a:lnTo>
                <a:cubicBezTo>
                  <a:pt x="2243685" y="2302852"/>
                  <a:pt x="2132055" y="2266249"/>
                  <a:pt x="2221706" y="2293144"/>
                </a:cubicBezTo>
                <a:cubicBezTo>
                  <a:pt x="2236131" y="2297472"/>
                  <a:pt x="2250281" y="2302669"/>
                  <a:pt x="2264569" y="2307431"/>
                </a:cubicBezTo>
                <a:cubicBezTo>
                  <a:pt x="2271713" y="2309812"/>
                  <a:pt x="2279735" y="2310398"/>
                  <a:pt x="2286000" y="2314575"/>
                </a:cubicBezTo>
                <a:cubicBezTo>
                  <a:pt x="2319962" y="2337216"/>
                  <a:pt x="2299286" y="2326147"/>
                  <a:pt x="2350294" y="2343150"/>
                </a:cubicBezTo>
                <a:lnTo>
                  <a:pt x="2393156" y="2357437"/>
                </a:lnTo>
                <a:cubicBezTo>
                  <a:pt x="2412206" y="2362200"/>
                  <a:pt x="2431051" y="2367874"/>
                  <a:pt x="2450306" y="2371725"/>
                </a:cubicBezTo>
                <a:cubicBezTo>
                  <a:pt x="2474119" y="2376487"/>
                  <a:pt x="2498706" y="2378332"/>
                  <a:pt x="2521744" y="2386012"/>
                </a:cubicBezTo>
                <a:cubicBezTo>
                  <a:pt x="2559149" y="2398481"/>
                  <a:pt x="2535721" y="2392091"/>
                  <a:pt x="2593181" y="2400300"/>
                </a:cubicBezTo>
                <a:cubicBezTo>
                  <a:pt x="2630892" y="2412871"/>
                  <a:pt x="2619088" y="2410599"/>
                  <a:pt x="2678906" y="2414587"/>
                </a:cubicBezTo>
                <a:cubicBezTo>
                  <a:pt x="2728858" y="2417917"/>
                  <a:pt x="2778919" y="2419350"/>
                  <a:pt x="2828925" y="2421731"/>
                </a:cubicBezTo>
                <a:cubicBezTo>
                  <a:pt x="2862262" y="2426494"/>
                  <a:pt x="2895915" y="2429415"/>
                  <a:pt x="2928937" y="2436019"/>
                </a:cubicBezTo>
                <a:cubicBezTo>
                  <a:pt x="2940843" y="2438400"/>
                  <a:pt x="2952663" y="2441268"/>
                  <a:pt x="2964656" y="2443162"/>
                </a:cubicBezTo>
                <a:cubicBezTo>
                  <a:pt x="2997920" y="2448414"/>
                  <a:pt x="3031331" y="2452687"/>
                  <a:pt x="3064669" y="2457450"/>
                </a:cubicBezTo>
                <a:cubicBezTo>
                  <a:pt x="3133684" y="2467310"/>
                  <a:pt x="3097963" y="2462505"/>
                  <a:pt x="3171825" y="2471737"/>
                </a:cubicBezTo>
                <a:cubicBezTo>
                  <a:pt x="3187828" y="2477072"/>
                  <a:pt x="3205172" y="2483462"/>
                  <a:pt x="3221831" y="2486025"/>
                </a:cubicBezTo>
                <a:cubicBezTo>
                  <a:pt x="3296827" y="2497563"/>
                  <a:pt x="3386994" y="2497371"/>
                  <a:pt x="3457575" y="2500312"/>
                </a:cubicBezTo>
                <a:lnTo>
                  <a:pt x="3543300" y="2507456"/>
                </a:lnTo>
                <a:cubicBezTo>
                  <a:pt x="3618629" y="2514989"/>
                  <a:pt x="3578641" y="2512506"/>
                  <a:pt x="3643312" y="2521744"/>
                </a:cubicBezTo>
                <a:cubicBezTo>
                  <a:pt x="3662317" y="2524459"/>
                  <a:pt x="3681487" y="2525968"/>
                  <a:pt x="3700462" y="2528887"/>
                </a:cubicBezTo>
                <a:cubicBezTo>
                  <a:pt x="3766451" y="2539039"/>
                  <a:pt x="3714387" y="2539590"/>
                  <a:pt x="3814762" y="2543175"/>
                </a:cubicBezTo>
                <a:lnTo>
                  <a:pt x="4336256" y="2557462"/>
                </a:lnTo>
                <a:cubicBezTo>
                  <a:pt x="4349450" y="2560761"/>
                  <a:pt x="4388793" y="2571078"/>
                  <a:pt x="4400550" y="2571750"/>
                </a:cubicBezTo>
                <a:cubicBezTo>
                  <a:pt x="4471911" y="2575828"/>
                  <a:pt x="4543425" y="2576513"/>
                  <a:pt x="4614862" y="2578894"/>
                </a:cubicBezTo>
                <a:lnTo>
                  <a:pt x="4807744" y="2571750"/>
                </a:lnTo>
                <a:cubicBezTo>
                  <a:pt x="4831640" y="2570458"/>
                  <a:pt x="4855320" y="2566442"/>
                  <a:pt x="4879181" y="2564606"/>
                </a:cubicBezTo>
                <a:cubicBezTo>
                  <a:pt x="4917243" y="2561678"/>
                  <a:pt x="4955411" y="2560282"/>
                  <a:pt x="4993481" y="2557462"/>
                </a:cubicBezTo>
                <a:cubicBezTo>
                  <a:pt x="5104466" y="2549241"/>
                  <a:pt x="5036459" y="2550319"/>
                  <a:pt x="5107781" y="2550319"/>
                </a:cubicBezTo>
              </a:path>
            </a:pathLst>
          </a:custGeom>
          <a:ln w="762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9BE391-9B81-4E28-4099-987B854AC451}"/>
                  </a:ext>
                </a:extLst>
              </p:cNvPr>
              <p:cNvSpPr txBox="1"/>
              <p:nvPr/>
            </p:nvSpPr>
            <p:spPr>
              <a:xfrm>
                <a:off x="385481" y="454865"/>
                <a:ext cx="557349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0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9BE391-9B81-4E28-4099-987B854AC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81" y="454865"/>
                <a:ext cx="557349" cy="800219"/>
              </a:xfrm>
              <a:prstGeom prst="rect">
                <a:avLst/>
              </a:prstGeom>
              <a:blipFill>
                <a:blip r:embed="rId3"/>
                <a:stretch>
                  <a:fillRect l="-13333" r="-9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0B4E096A-C70A-1422-D153-6E7F4018B1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9697" y="454865"/>
                <a:ext cx="4280176" cy="62333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estimate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Black curve will follow form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γt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Then, we can normalize by dividing the curve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shift the curve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proper fitting.</a:t>
                </a:r>
              </a:p>
              <a:p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This form is easy to fit in MATLAB.</a:t>
                </a:r>
              </a:p>
              <a:p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Retrieve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𝑒𝑠𝑡𝑖𝑚𝑎𝑡𝑒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this way</a:t>
                </a:r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estimate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period of this function occurs every other peak after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Then,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where a peak occurs, the period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𝑒𝑠𝑡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𝑖𝑚𝑎𝑡𝑒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𝑒𝑠𝑡𝑖𝑚𝑎𝑡𝑒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𝑒𝑠𝑡𝑖𝑚𝑎𝑡𝑒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𝑒𝑠𝑡𝑖𝑚𝑎𝑡𝑒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endParaRPr lang="en-US" b="0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FFFF"/>
                  </a:solidFill>
                </a:endParaRPr>
              </a:p>
              <a:p>
                <a:endParaRPr lang="en-US" dirty="0">
                  <a:solidFill>
                    <a:srgbClr val="FFFFFF"/>
                  </a:solidFill>
                </a:endParaRPr>
              </a:p>
              <a:p>
                <a:endParaRPr lang="en-US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0B4E096A-C70A-1422-D153-6E7F4018B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697" y="454865"/>
                <a:ext cx="4280176" cy="6233318"/>
              </a:xfrm>
              <a:prstGeom prst="rect">
                <a:avLst/>
              </a:prstGeom>
              <a:blipFill>
                <a:blip r:embed="rId4"/>
                <a:stretch>
                  <a:fillRect l="-1183" t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049A7B27-029A-EC67-277F-14B8C071966F}"/>
              </a:ext>
            </a:extLst>
          </p:cNvPr>
          <p:cNvSpPr/>
          <p:nvPr/>
        </p:nvSpPr>
        <p:spPr>
          <a:xfrm>
            <a:off x="204682" y="670560"/>
            <a:ext cx="248164" cy="252549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4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6CE6-FBBA-FBC7-734C-E01241BC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74" y="889363"/>
            <a:ext cx="2793158" cy="463731"/>
          </a:xfrm>
        </p:spPr>
        <p:txBody>
          <a:bodyPr/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4EE9A-CDFA-D881-0291-7B0578B22F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8300" y="1121229"/>
                <a:ext cx="5190066" cy="5736771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𝑒𝑠𝑡𝑖𝑚𝑎𝑡𝑒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𝑒𝑠𝑡𝑖𝑚𝑎𝑡𝑒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we obtain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by analytically solving equation (2)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Then, we can use those estimates as starting points for a fitting function to the tail data.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can estimate the decay timescale,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1/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the natural, undamped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2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using the average of our results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from forward and reverse cases.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4EE9A-CDFA-D881-0291-7B0578B22F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8300" y="1121229"/>
                <a:ext cx="5190066" cy="5736771"/>
              </a:xfrm>
              <a:blipFill>
                <a:blip r:embed="rId2"/>
                <a:stretch>
                  <a:fillRect l="-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635EB7E-81DF-B09B-58EB-7A2F5F3D1D9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583474" y="1428206"/>
                <a:ext cx="4084320" cy="4265748"/>
              </a:xfrm>
            </p:spPr>
            <p:txBody>
              <a:bodyPr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Forward: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7.5324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0.36810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 algn="ctr">
                  <a:buFont typeface="Courier New" panose="02070309020205020404" pitchFamily="49" charset="0"/>
                  <a:buChar char="o"/>
                </a:pPr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0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Reverse: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7.5515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0.36332</m:t>
                      </m:r>
                    </m:oMath>
                  </m:oMathPara>
                </a14:m>
                <a:endParaRPr lang="en-US" sz="2000" b="0" i="1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2000" b="0" i="1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0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Overall: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𝑎𝑣𝑒𝑟𝑎𝑔𝑒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=7.5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419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𝑎𝑣𝑒𝑟𝑎𝑔𝑒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=0.36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571</m:t>
                      </m:r>
                    </m:oMath>
                  </m:oMathPara>
                </a14:m>
                <a:endParaRPr lang="en-US" sz="2000" b="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0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sz="20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2.7344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sz="20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0.83310</a:t>
                </a:r>
                <a:endParaRPr lang="en-US" sz="20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US" sz="1800" b="0" dirty="0">
                  <a:solidFill>
                    <a:schemeClr val="accent6"/>
                  </a:solidFill>
                </a:endParaRP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US" sz="28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635EB7E-81DF-B09B-58EB-7A2F5F3D1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583474" y="1428206"/>
                <a:ext cx="4084320" cy="4265748"/>
              </a:xfrm>
              <a:blipFill>
                <a:blip r:embed="rId3"/>
                <a:stretch>
                  <a:fillRect t="-890" b="-16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16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n audio wave&#10;&#10;AI-generated content may be incorrect.">
            <a:extLst>
              <a:ext uri="{FF2B5EF4-FFF2-40B4-BE49-F238E27FC236}">
                <a16:creationId xmlns:a16="http://schemas.microsoft.com/office/drawing/2014/main" id="{B7E216DD-4435-7B98-826B-7552932A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2" y="3556645"/>
            <a:ext cx="4848616" cy="318796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9C8D3233-98E4-F537-B701-3D0690E3D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294" y="115729"/>
            <a:ext cx="4592140" cy="31111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 sprinkler data&#10;&#10;AI-generated content may be incorrect.">
            <a:extLst>
              <a:ext uri="{FF2B5EF4-FFF2-40B4-BE49-F238E27FC236}">
                <a16:creationId xmlns:a16="http://schemas.microsoft.com/office/drawing/2014/main" id="{D56B8D3A-0E77-4611-319A-30971D04A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321" y="3556645"/>
            <a:ext cx="4696113" cy="3111175"/>
          </a:xfrm>
          <a:prstGeom prst="rect">
            <a:avLst/>
          </a:prstGeom>
        </p:spPr>
      </p:pic>
      <p:pic>
        <p:nvPicPr>
          <p:cNvPr id="16" name="Picture 15" descr="A blue line graph with white text&#10;&#10;AI-generated content may be incorrect.">
            <a:extLst>
              <a:ext uri="{FF2B5EF4-FFF2-40B4-BE49-F238E27FC236}">
                <a16:creationId xmlns:a16="http://schemas.microsoft.com/office/drawing/2014/main" id="{239C7EDC-246B-114C-323D-A54A7E8AB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20" y="179179"/>
            <a:ext cx="4926240" cy="31281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61CF8F-193D-AC02-BF97-8CEC718055D5}"/>
              </a:ext>
            </a:extLst>
          </p:cNvPr>
          <p:cNvSpPr txBox="1"/>
          <p:nvPr/>
        </p:nvSpPr>
        <p:spPr>
          <a:xfrm>
            <a:off x="5213230" y="3121670"/>
            <a:ext cx="1704579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REVERSE</a:t>
            </a:r>
          </a:p>
        </p:txBody>
      </p:sp>
    </p:spTree>
    <p:extLst>
      <p:ext uri="{BB962C8B-B14F-4D97-AF65-F5344CB8AC3E}">
        <p14:creationId xmlns:p14="http://schemas.microsoft.com/office/powerpoint/2010/main" val="187733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5F185-B274-7769-7BA9-52DBF402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line with red x and black text&#10;&#10;AI-generated content may be incorrect.">
            <a:extLst>
              <a:ext uri="{FF2B5EF4-FFF2-40B4-BE49-F238E27FC236}">
                <a16:creationId xmlns:a16="http://schemas.microsoft.com/office/drawing/2014/main" id="{B445E77E-E540-FDCE-B147-15A480936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384"/>
            <a:ext cx="4909479" cy="31175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8A7108E8-375B-BA83-E240-8820E536D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681" y="193321"/>
            <a:ext cx="4760209" cy="312983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78DF612E-D55A-77C8-2C03-82F050E4D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51" y="3631096"/>
            <a:ext cx="5104452" cy="3075434"/>
          </a:xfrm>
          <a:prstGeom prst="rect">
            <a:avLst/>
          </a:prstGeom>
        </p:spPr>
      </p:pic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A352D981-695F-39C8-15F5-3EFEFAE42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444" y="3631096"/>
            <a:ext cx="4945446" cy="32269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6A5483-9C93-3CFA-E755-641697BD2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828" y="3500467"/>
            <a:ext cx="3210855" cy="2082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F0D48E-7662-8131-99C8-3AC8C1CCCDC1}"/>
              </a:ext>
            </a:extLst>
          </p:cNvPr>
          <p:cNvSpPr txBox="1"/>
          <p:nvPr/>
        </p:nvSpPr>
        <p:spPr>
          <a:xfrm>
            <a:off x="5180798" y="3167390"/>
            <a:ext cx="1830403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FORWARD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AD79DA-6E20-76BC-7067-9D10042078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9747" y="3480873"/>
            <a:ext cx="1925574" cy="18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2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E256-C561-6E71-5DB7-B7C192C3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</a:p>
        </p:txBody>
      </p:sp>
      <p:sp>
        <p:nvSpPr>
          <p:cNvPr id="3" name="Content Placeholder 2" descr="norm two error between data and analytical fit: 4.366702e-02 &#10;norm 2 error from smoothing y: 0 &#10;norm two error of original data and output using solved torque: 1.075018e-01 ">
            <a:extLst>
              <a:ext uri="{FF2B5EF4-FFF2-40B4-BE49-F238E27FC236}">
                <a16:creationId xmlns:a16="http://schemas.microsoft.com/office/drawing/2014/main" id="{59B8F9C5-29FD-BEE4-E270-58B15887A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Forward</a:t>
            </a:r>
          </a:p>
          <a:p>
            <a:r>
              <a:rPr lang="en-US" dirty="0"/>
              <a:t>norm two error between data and analytical fit: 4.3667e-02 </a:t>
            </a:r>
          </a:p>
          <a:p>
            <a:r>
              <a:rPr lang="en-US" dirty="0"/>
              <a:t>norm two error from smoothing phi: 4.5624e-02</a:t>
            </a:r>
          </a:p>
          <a:p>
            <a:r>
              <a:rPr lang="en-US" dirty="0"/>
              <a:t>norm two error of original data and output using solved torque: 1.0750e-01 </a:t>
            </a:r>
          </a:p>
          <a:p>
            <a:pPr marL="0" indent="0">
              <a:buNone/>
            </a:pPr>
            <a:r>
              <a:rPr lang="en-US" dirty="0"/>
              <a:t>Reverse</a:t>
            </a:r>
          </a:p>
          <a:p>
            <a:r>
              <a:rPr lang="en-US" dirty="0"/>
              <a:t>norm two error of data and analytical fit: 2.7083e-02 </a:t>
            </a:r>
          </a:p>
          <a:p>
            <a:r>
              <a:rPr lang="en-US" dirty="0"/>
              <a:t>norm two error from smoothing phi: 2.8165e-02 </a:t>
            </a:r>
          </a:p>
          <a:p>
            <a:r>
              <a:rPr lang="en-US" dirty="0"/>
              <a:t>norm two error of original data and output using solved torque: 2.2769e-01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476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1457</TotalTime>
  <Words>441</Words>
  <Application>Microsoft Macintosh PowerPoint</Application>
  <PresentationFormat>Widescreen</PresentationFormat>
  <Paragraphs>80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Cambria Math</vt:lpstr>
      <vt:lpstr>Century Gothic</vt:lpstr>
      <vt:lpstr>Courier New</vt:lpstr>
      <vt:lpstr>Wingdings 3</vt:lpstr>
      <vt:lpstr>Ion Boardroom</vt:lpstr>
      <vt:lpstr>Transient Sprinkler Dynamics Update</vt:lpstr>
      <vt:lpstr>Necessary Equations </vt:lpstr>
      <vt:lpstr>PowerPoint Presentation</vt:lpstr>
      <vt:lpstr>Results</vt:lpstr>
      <vt:lpstr>PowerPoint Presentation</vt:lpstr>
      <vt:lpstr>PowerPoint Presentation</vt:lpstr>
      <vt:lpstr>Error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Bertaud</dc:creator>
  <cp:lastModifiedBy>Rachel Bertaud</cp:lastModifiedBy>
  <cp:revision>4</cp:revision>
  <dcterms:created xsi:type="dcterms:W3CDTF">2026-01-08T21:09:19Z</dcterms:created>
  <dcterms:modified xsi:type="dcterms:W3CDTF">2026-01-09T21:52:11Z</dcterms:modified>
</cp:coreProperties>
</file>